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nton" pitchFamily="2" charset="0"/>
      <p:regular r:id="rId9"/>
    </p:embeddedFont>
    <p:embeddedFont>
      <p:font typeface="Inter" panose="020B0604020202020204" charset="0"/>
      <p:regular r:id="rId10"/>
    </p:embeddedFont>
    <p:embeddedFont>
      <p:font typeface="Inter Bold" panose="020B0604020202020204" charset="0"/>
      <p:regular r:id="rId11"/>
    </p:embeddedFont>
    <p:embeddedFont>
      <p:font typeface="Inter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32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291358" y="4563338"/>
            <a:ext cx="22211183" cy="8117178"/>
          </a:xfrm>
          <a:custGeom>
            <a:avLst/>
            <a:gdLst/>
            <a:ahLst/>
            <a:cxnLst/>
            <a:rect l="l" t="t" r="r" b="b"/>
            <a:pathLst>
              <a:path w="22211183" h="8117178">
                <a:moveTo>
                  <a:pt x="0" y="0"/>
                </a:moveTo>
                <a:lnTo>
                  <a:pt x="22211182" y="0"/>
                </a:lnTo>
                <a:lnTo>
                  <a:pt x="22211182" y="8117178"/>
                </a:lnTo>
                <a:lnTo>
                  <a:pt x="0" y="811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270120" y="271740"/>
            <a:ext cx="6571804" cy="1642951"/>
          </a:xfrm>
          <a:custGeom>
            <a:avLst/>
            <a:gdLst/>
            <a:ahLst/>
            <a:cxnLst/>
            <a:rect l="l" t="t" r="r" b="b"/>
            <a:pathLst>
              <a:path w="6571804" h="1642951">
                <a:moveTo>
                  <a:pt x="0" y="0"/>
                </a:moveTo>
                <a:lnTo>
                  <a:pt x="6571805" y="0"/>
                </a:lnTo>
                <a:lnTo>
                  <a:pt x="6571805" y="1642951"/>
                </a:lnTo>
                <a:lnTo>
                  <a:pt x="0" y="1642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1028700" y="2764365"/>
            <a:ext cx="12111357" cy="2607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50"/>
              </a:lnSpc>
            </a:pPr>
            <a:r>
              <a:rPr lang="en-US" sz="10050" spc="-1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CASO 1 - MUEBLERÍA ALBARRÁN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315162"/>
            <a:ext cx="9777670" cy="1053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306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CERTAMEN 2 - FASE 1</a:t>
            </a:r>
          </a:p>
          <a:p>
            <a:pPr algn="l">
              <a:lnSpc>
                <a:spcPts val="4289"/>
              </a:lnSpc>
            </a:pPr>
            <a:r>
              <a:rPr lang="en-US" sz="306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WAREHOUSE Y PROCESO ETL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442103" y="501458"/>
            <a:ext cx="4299228" cy="1135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16"/>
              </a:lnSpc>
            </a:pPr>
            <a:r>
              <a:rPr lang="en-US" sz="2154" b="1" spc="-3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INTELIGENCIA DE NEGOCIOS</a:t>
            </a:r>
          </a:p>
          <a:p>
            <a:pPr algn="r">
              <a:lnSpc>
                <a:spcPts val="3016"/>
              </a:lnSpc>
            </a:pPr>
            <a:r>
              <a:rPr lang="en-US" sz="2154" b="1" spc="-3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PROFESOR: HERNAN SAAVEDRA </a:t>
            </a:r>
          </a:p>
          <a:p>
            <a:pPr algn="r">
              <a:lnSpc>
                <a:spcPts val="3016"/>
              </a:lnSpc>
            </a:pPr>
            <a:r>
              <a:rPr lang="en-US" sz="2154" b="1" spc="-3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2026-II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424346"/>
            <a:ext cx="3428167" cy="83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36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INTEGRANTES:</a:t>
            </a:r>
          </a:p>
          <a:p>
            <a:pPr marL="509811" lvl="1" indent="-254906" algn="l">
              <a:lnSpc>
                <a:spcPts val="3305"/>
              </a:lnSpc>
              <a:buFont typeface="Arial"/>
              <a:buChar char="•"/>
            </a:pPr>
            <a:r>
              <a:rPr lang="en-US" sz="236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YAMANDÚ LETTIERI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74800" y="2665117"/>
            <a:ext cx="8642476" cy="6460052"/>
            <a:chOff x="0" y="0"/>
            <a:chExt cx="955596" cy="7142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5596" cy="714286"/>
            </a:xfrm>
            <a:custGeom>
              <a:avLst/>
              <a:gdLst/>
              <a:ahLst/>
              <a:cxnLst/>
              <a:rect l="l" t="t" r="r" b="b"/>
              <a:pathLst>
                <a:path w="955596" h="714286">
                  <a:moveTo>
                    <a:pt x="0" y="0"/>
                  </a:moveTo>
                  <a:lnTo>
                    <a:pt x="955596" y="0"/>
                  </a:lnTo>
                  <a:lnTo>
                    <a:pt x="955596" y="714286"/>
                  </a:lnTo>
                  <a:lnTo>
                    <a:pt x="0" y="714286"/>
                  </a:lnTo>
                  <a:close/>
                </a:path>
              </a:pathLst>
            </a:custGeom>
            <a:blipFill>
              <a:blip r:embed="rId2"/>
              <a:stretch>
                <a:fillRect l="-1017" r="-101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211280"/>
            <a:ext cx="11664673" cy="977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7"/>
              </a:lnSpc>
            </a:pPr>
            <a:r>
              <a:rPr lang="en-US" sz="7357" spc="-132">
                <a:solidFill>
                  <a:srgbClr val="F9B000"/>
                </a:solidFill>
                <a:latin typeface="Anton"/>
                <a:ea typeface="Anton"/>
                <a:cs typeface="Anton"/>
                <a:sym typeface="Anton"/>
              </a:rPr>
              <a:t>CONTEXTO Y PROBLEMA DE NEGOCIO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167670"/>
            <a:ext cx="7266629" cy="5957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LA EMPRESA</a:t>
            </a:r>
          </a:p>
          <a:p>
            <a:pPr marL="530162" lvl="1" indent="-265081" algn="l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MUEBLería innovadora, a la vanguardia y en rápido crecimiento.</a:t>
            </a:r>
          </a:p>
          <a:p>
            <a:pPr algn="l">
              <a:lnSpc>
                <a:spcPts val="3437"/>
              </a:lnSpc>
            </a:pPr>
            <a:endParaRPr lang="en-US" sz="2455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El DESAFÍO</a:t>
            </a:r>
          </a:p>
          <a:p>
            <a:pPr marL="530162" lvl="1" indent="-265081" algn="l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 RÁPIDO Crecimiento requiere pasar al siguiente nivel tecnológico.</a:t>
            </a:r>
          </a:p>
          <a:p>
            <a:pPr algn="l">
              <a:lnSpc>
                <a:spcPts val="3437"/>
              </a:lnSpc>
            </a:pPr>
            <a:endParaRPr lang="en-US" sz="2455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La SoluCIÓN</a:t>
            </a:r>
          </a:p>
          <a:p>
            <a:pPr marL="530162" lvl="1" indent="-265081" algn="l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INCORPORAR INTELIGENCIA DE NEGOCIOS PARA GUIAR A LOS ENCARGADOS EN LA TOMA de decisiones.</a:t>
            </a:r>
          </a:p>
          <a:p>
            <a:pPr algn="l">
              <a:lnSpc>
                <a:spcPts val="3437"/>
              </a:lnSpc>
            </a:pPr>
            <a:endParaRPr lang="en-US" sz="2455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9603531"/>
            <a:ext cx="22951717" cy="3086100"/>
            <a:chOff x="0" y="0"/>
            <a:chExt cx="604489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44897" cy="812800"/>
            </a:xfrm>
            <a:custGeom>
              <a:avLst/>
              <a:gdLst/>
              <a:ahLst/>
              <a:cxnLst/>
              <a:rect l="l" t="t" r="r" b="b"/>
              <a:pathLst>
                <a:path w="6044897" h="812800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20578" y="1247775"/>
            <a:ext cx="17162622" cy="1564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715"/>
              </a:lnSpc>
            </a:pPr>
            <a:r>
              <a:rPr lang="en-US" sz="11715" spc="-210" dirty="0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 ¿QUÉ VAMOS A MEDIR? (KPIS)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44137" y="4412407"/>
            <a:ext cx="1215664" cy="1191537"/>
            <a:chOff x="0" y="0"/>
            <a:chExt cx="928420" cy="9099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8420" cy="909994"/>
            </a:xfrm>
            <a:custGeom>
              <a:avLst/>
              <a:gdLst/>
              <a:ahLst/>
              <a:cxnLst/>
              <a:rect l="l" t="t" r="r" b="b"/>
              <a:pathLst>
                <a:path w="928420" h="909994">
                  <a:moveTo>
                    <a:pt x="464210" y="0"/>
                  </a:moveTo>
                  <a:cubicBezTo>
                    <a:pt x="207834" y="0"/>
                    <a:pt x="0" y="203709"/>
                    <a:pt x="0" y="454997"/>
                  </a:cubicBezTo>
                  <a:cubicBezTo>
                    <a:pt x="0" y="706285"/>
                    <a:pt x="207834" y="909994"/>
                    <a:pt x="464210" y="909994"/>
                  </a:cubicBezTo>
                  <a:cubicBezTo>
                    <a:pt x="720586" y="909994"/>
                    <a:pt x="928420" y="706285"/>
                    <a:pt x="928420" y="454997"/>
                  </a:cubicBezTo>
                  <a:cubicBezTo>
                    <a:pt x="928420" y="203709"/>
                    <a:pt x="720586" y="0"/>
                    <a:pt x="464210" y="0"/>
                  </a:cubicBez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39" y="-28988"/>
              <a:ext cx="754341" cy="853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84931" y="4412407"/>
            <a:ext cx="1215664" cy="1219468"/>
            <a:chOff x="0" y="0"/>
            <a:chExt cx="928420" cy="9313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28420" cy="931325"/>
            </a:xfrm>
            <a:custGeom>
              <a:avLst/>
              <a:gdLst/>
              <a:ahLst/>
              <a:cxnLst/>
              <a:rect l="l" t="t" r="r" b="b"/>
              <a:pathLst>
                <a:path w="928420" h="931325">
                  <a:moveTo>
                    <a:pt x="464210" y="0"/>
                  </a:moveTo>
                  <a:cubicBezTo>
                    <a:pt x="207834" y="0"/>
                    <a:pt x="0" y="208484"/>
                    <a:pt x="0" y="465663"/>
                  </a:cubicBezTo>
                  <a:cubicBezTo>
                    <a:pt x="0" y="722841"/>
                    <a:pt x="207834" y="931325"/>
                    <a:pt x="464210" y="931325"/>
                  </a:cubicBezTo>
                  <a:cubicBezTo>
                    <a:pt x="720586" y="931325"/>
                    <a:pt x="928420" y="722841"/>
                    <a:pt x="928420" y="465663"/>
                  </a:cubicBezTo>
                  <a:cubicBezTo>
                    <a:pt x="928420" y="208484"/>
                    <a:pt x="720586" y="0"/>
                    <a:pt x="464210" y="0"/>
                  </a:cubicBez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39" y="-26988"/>
              <a:ext cx="754341" cy="8710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90511" y="4412407"/>
            <a:ext cx="1215664" cy="1168885"/>
            <a:chOff x="0" y="0"/>
            <a:chExt cx="928420" cy="8926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8420" cy="892694"/>
            </a:xfrm>
            <a:custGeom>
              <a:avLst/>
              <a:gdLst/>
              <a:ahLst/>
              <a:cxnLst/>
              <a:rect l="l" t="t" r="r" b="b"/>
              <a:pathLst>
                <a:path w="928420" h="892694">
                  <a:moveTo>
                    <a:pt x="464210" y="0"/>
                  </a:moveTo>
                  <a:cubicBezTo>
                    <a:pt x="207834" y="0"/>
                    <a:pt x="0" y="199836"/>
                    <a:pt x="0" y="446347"/>
                  </a:cubicBezTo>
                  <a:cubicBezTo>
                    <a:pt x="0" y="692858"/>
                    <a:pt x="207834" y="892694"/>
                    <a:pt x="464210" y="892694"/>
                  </a:cubicBezTo>
                  <a:cubicBezTo>
                    <a:pt x="720586" y="892694"/>
                    <a:pt x="928420" y="692858"/>
                    <a:pt x="928420" y="446347"/>
                  </a:cubicBezTo>
                  <a:cubicBezTo>
                    <a:pt x="928420" y="199836"/>
                    <a:pt x="720586" y="0"/>
                    <a:pt x="464210" y="0"/>
                  </a:cubicBez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39" y="-30610"/>
              <a:ext cx="754341" cy="8396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1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79230" y="4654388"/>
            <a:ext cx="945479" cy="85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6"/>
              </a:lnSpc>
            </a:pPr>
            <a:r>
              <a:rPr lang="en-US" sz="6456" spc="-1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44137" y="5730726"/>
            <a:ext cx="5124303" cy="107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3"/>
              </a:lnSpc>
            </a:pPr>
            <a:r>
              <a:rPr lang="en-US" sz="4193" spc="-75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Ingresos Totales por Sucursal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4137" y="6837359"/>
            <a:ext cx="4699059" cy="878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54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Para saber qué local vende más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20024" y="4640423"/>
            <a:ext cx="945479" cy="85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6"/>
              </a:lnSpc>
            </a:pPr>
            <a:r>
              <a:rPr lang="en-US" sz="6456" spc="-1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4931" y="5730726"/>
            <a:ext cx="4318137" cy="107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3"/>
              </a:lnSpc>
            </a:pPr>
            <a:r>
              <a:rPr lang="en-US" sz="4193" spc="-75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Ticket Promedio de Venta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84931" y="6837359"/>
            <a:ext cx="3123356" cy="878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54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¿Cuánto gasta un cliente?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25604" y="4629097"/>
            <a:ext cx="945479" cy="85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56"/>
              </a:lnSpc>
            </a:pPr>
            <a:r>
              <a:rPr lang="en-US" sz="6456" spc="-1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90511" y="5730726"/>
            <a:ext cx="5349152" cy="554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3"/>
              </a:lnSpc>
            </a:pPr>
            <a:r>
              <a:rPr lang="en-US" sz="4193" spc="-75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Volumen por Categoría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90511" y="6761159"/>
            <a:ext cx="3123356" cy="878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54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¿Qué tipo de mueble rota más rápido?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9603531"/>
            <a:ext cx="22951717" cy="3086100"/>
            <a:chOff x="0" y="0"/>
            <a:chExt cx="604489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44897" cy="812800"/>
            </a:xfrm>
            <a:custGeom>
              <a:avLst/>
              <a:gdLst/>
              <a:ahLst/>
              <a:cxnLst/>
              <a:rect l="l" t="t" r="r" b="b"/>
              <a:pathLst>
                <a:path w="6044897" h="812800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9102648" y="3025217"/>
            <a:ext cx="0" cy="5280707"/>
          </a:xfrm>
          <a:prstGeom prst="line">
            <a:avLst/>
          </a:prstGeom>
          <a:ln w="38100" cap="flat">
            <a:solidFill>
              <a:srgbClr val="24497B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Box 6"/>
          <p:cNvSpPr txBox="1"/>
          <p:nvPr/>
        </p:nvSpPr>
        <p:spPr>
          <a:xfrm>
            <a:off x="2497586" y="906346"/>
            <a:ext cx="13292828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 spc="-158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METODOLOGÍA DE KIMBALL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66197" y="2015691"/>
            <a:ext cx="10230261" cy="42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4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Diseño del Modelo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421457"/>
            <a:ext cx="5783021" cy="47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264" lvl="1" indent="-388132" algn="l">
              <a:lnSpc>
                <a:spcPts val="3595"/>
              </a:lnSpc>
              <a:buAutoNum type="arabicPeriod"/>
            </a:pPr>
            <a:r>
              <a:rPr lang="en-US" sz="3595" spc="-6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Elegir el proceso de negocio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97586" y="3949465"/>
            <a:ext cx="3459080" cy="341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2" i="1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Ventas de la mueblería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33033" y="3421457"/>
            <a:ext cx="4763600" cy="47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264" lvl="1" indent="-388132" algn="l">
              <a:lnSpc>
                <a:spcPts val="3595"/>
              </a:lnSpc>
              <a:buAutoNum type="arabicPeriod"/>
            </a:pPr>
            <a:r>
              <a:rPr lang="en-US" sz="3595" spc="-6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Elegir las dimensiones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37553" y="3851068"/>
            <a:ext cx="3459080" cy="68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2" i="1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Productos, Sucursales, Empleados, Tiempo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098564"/>
            <a:ext cx="6891028" cy="47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264" lvl="1" indent="-388132" algn="l">
              <a:lnSpc>
                <a:spcPts val="3595"/>
              </a:lnSpc>
              <a:buAutoNum type="arabicPeriod"/>
            </a:pPr>
            <a:r>
              <a:rPr lang="en-US" sz="3595" spc="-6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Establecer el nivel de granularidad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44674" y="6581236"/>
            <a:ext cx="3459080" cy="68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2" i="1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Una línea por cada producto en la boleta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33033" y="6031236"/>
            <a:ext cx="7570644" cy="92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264" lvl="1" indent="-388132" algn="l">
              <a:lnSpc>
                <a:spcPts val="3595"/>
              </a:lnSpc>
              <a:buAutoNum type="arabicPeriod"/>
            </a:pPr>
            <a:r>
              <a:rPr lang="en-US" sz="3595" spc="-6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Identificar las Métricas y Tablas de Hecho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37553" y="6913432"/>
            <a:ext cx="3459080" cy="68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2" i="1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Cantidad, precio unitario, descuento y monto total.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9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57638" y="2072847"/>
            <a:ext cx="10372725" cy="7429320"/>
            <a:chOff x="0" y="0"/>
            <a:chExt cx="1303883" cy="9338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3883" cy="933888"/>
            </a:xfrm>
            <a:custGeom>
              <a:avLst/>
              <a:gdLst/>
              <a:ahLst/>
              <a:cxnLst/>
              <a:rect l="l" t="t" r="r" b="b"/>
              <a:pathLst>
                <a:path w="1303883" h="933888">
                  <a:moveTo>
                    <a:pt x="17167" y="0"/>
                  </a:moveTo>
                  <a:lnTo>
                    <a:pt x="1286716" y="0"/>
                  </a:lnTo>
                  <a:cubicBezTo>
                    <a:pt x="1296197" y="0"/>
                    <a:pt x="1303883" y="7686"/>
                    <a:pt x="1303883" y="17167"/>
                  </a:cubicBezTo>
                  <a:lnTo>
                    <a:pt x="1303883" y="916721"/>
                  </a:lnTo>
                  <a:cubicBezTo>
                    <a:pt x="1303883" y="926202"/>
                    <a:pt x="1296197" y="933888"/>
                    <a:pt x="1286716" y="933888"/>
                  </a:cubicBezTo>
                  <a:lnTo>
                    <a:pt x="17167" y="933888"/>
                  </a:lnTo>
                  <a:cubicBezTo>
                    <a:pt x="7686" y="933888"/>
                    <a:pt x="0" y="926202"/>
                    <a:pt x="0" y="916721"/>
                  </a:cubicBezTo>
                  <a:lnTo>
                    <a:pt x="0" y="17167"/>
                  </a:lnTo>
                  <a:cubicBezTo>
                    <a:pt x="0" y="7686"/>
                    <a:pt x="7686" y="0"/>
                    <a:pt x="17167" y="0"/>
                  </a:cubicBezTo>
                  <a:close/>
                </a:path>
              </a:pathLst>
            </a:custGeom>
            <a:blipFill>
              <a:blip r:embed="rId2"/>
              <a:stretch>
                <a:fillRect l="-1728" r="-1728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496989" y="704110"/>
            <a:ext cx="9294022" cy="127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3"/>
              </a:lnSpc>
            </a:pPr>
            <a:r>
              <a:rPr lang="en-US" sz="9823" spc="-176" dirty="0">
                <a:solidFill>
                  <a:srgbClr val="F9B000"/>
                </a:solidFill>
                <a:latin typeface="Anton"/>
                <a:ea typeface="Anton"/>
                <a:cs typeface="Anton"/>
                <a:sym typeface="Anton"/>
              </a:rPr>
              <a:t>EL MODELO ESTRELLA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878" y="8839200"/>
            <a:ext cx="2852584" cy="80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*Elegimos Estrella en vez de Copo de Nieve porque queríamos velocidad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B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6183" y="2790591"/>
            <a:ext cx="8521514" cy="2209626"/>
            <a:chOff x="0" y="0"/>
            <a:chExt cx="313459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4597" cy="812800"/>
            </a:xfrm>
            <a:custGeom>
              <a:avLst/>
              <a:gdLst/>
              <a:ahLst/>
              <a:cxnLst/>
              <a:rect l="l" t="t" r="r" b="b"/>
              <a:pathLst>
                <a:path w="3134597" h="812800">
                  <a:moveTo>
                    <a:pt x="0" y="0"/>
                  </a:moveTo>
                  <a:lnTo>
                    <a:pt x="3134597" y="0"/>
                  </a:lnTo>
                  <a:lnTo>
                    <a:pt x="313459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3377" b="-337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170440" y="2145481"/>
            <a:ext cx="11117560" cy="4555257"/>
            <a:chOff x="0" y="0"/>
            <a:chExt cx="2757593" cy="11298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57593" cy="1129883"/>
            </a:xfrm>
            <a:custGeom>
              <a:avLst/>
              <a:gdLst/>
              <a:ahLst/>
              <a:cxnLst/>
              <a:rect l="l" t="t" r="r" b="b"/>
              <a:pathLst>
                <a:path w="2757593" h="1129883">
                  <a:moveTo>
                    <a:pt x="0" y="0"/>
                  </a:moveTo>
                  <a:lnTo>
                    <a:pt x="2757593" y="0"/>
                  </a:lnTo>
                  <a:lnTo>
                    <a:pt x="2757593" y="1129883"/>
                  </a:lnTo>
                  <a:lnTo>
                    <a:pt x="0" y="1129883"/>
                  </a:lnTo>
                  <a:close/>
                </a:path>
              </a:pathLst>
            </a:custGeom>
            <a:blipFill>
              <a:blip r:embed="rId3"/>
              <a:stretch>
                <a:fillRect t="-49" b="-49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" name="Freeform 6"/>
          <p:cNvSpPr/>
          <p:nvPr/>
        </p:nvSpPr>
        <p:spPr>
          <a:xfrm>
            <a:off x="864352" y="7097709"/>
            <a:ext cx="7610294" cy="2204361"/>
          </a:xfrm>
          <a:custGeom>
            <a:avLst/>
            <a:gdLst/>
            <a:ahLst/>
            <a:cxnLst/>
            <a:rect l="l" t="t" r="r" b="b"/>
            <a:pathLst>
              <a:path w="7610294" h="2204361">
                <a:moveTo>
                  <a:pt x="0" y="0"/>
                </a:moveTo>
                <a:lnTo>
                  <a:pt x="7610295" y="0"/>
                </a:lnTo>
                <a:lnTo>
                  <a:pt x="7610295" y="2204361"/>
                </a:lnTo>
                <a:lnTo>
                  <a:pt x="0" y="2204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TextBox 7"/>
          <p:cNvSpPr txBox="1"/>
          <p:nvPr/>
        </p:nvSpPr>
        <p:spPr>
          <a:xfrm>
            <a:off x="1028700" y="1009033"/>
            <a:ext cx="10899622" cy="1268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3"/>
              </a:lnSpc>
            </a:pPr>
            <a:r>
              <a:rPr lang="en-US" sz="9513" spc="-17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 EL PROCESO ETL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0" y="9603531"/>
            <a:ext cx="22951717" cy="3086100"/>
            <a:chOff x="0" y="0"/>
            <a:chExt cx="604489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44897" cy="812800"/>
            </a:xfrm>
            <a:custGeom>
              <a:avLst/>
              <a:gdLst/>
              <a:ahLst/>
              <a:cxnLst/>
              <a:rect l="l" t="t" r="r" b="b"/>
              <a:pathLst>
                <a:path w="6044897" h="812800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62132" y="4191869"/>
            <a:ext cx="14763736" cy="221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1"/>
              </a:lnSpc>
            </a:pPr>
            <a:r>
              <a:rPr lang="en-US" sz="16671" spc="-300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HORA DE LA VERDAD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Personalizado</PresentationFormat>
  <Paragraphs>41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Inter Italics</vt:lpstr>
      <vt:lpstr>Inter</vt:lpstr>
      <vt:lpstr>Inter Bold</vt:lpstr>
      <vt:lpstr>Calibri</vt:lpstr>
      <vt:lpstr>Anton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Avance 1</dc:title>
  <cp:lastModifiedBy>Yamandu Lettieri</cp:lastModifiedBy>
  <cp:revision>2</cp:revision>
  <dcterms:created xsi:type="dcterms:W3CDTF">2006-08-16T00:00:00Z</dcterms:created>
  <dcterms:modified xsi:type="dcterms:W3CDTF">2026-10-16T05:46:28Z</dcterms:modified>
  <dc:identifier>DAHYJWnfAUg</dc:identifier>
</cp:coreProperties>
</file>